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Proposition Simon 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Investigates unusual customer purchasing behavior in UK online retail transactions</a:t>
            </a:r>
          </a:p>
          <a:p>
            <a:pPr lvl="0"/>
            <a:r>
              <a:rPr/>
              <a:t>Invoice-level dataset: each transaction’s own features + aggregated customer-level behavior</a:t>
            </a:r>
          </a:p>
          <a:p>
            <a:pPr lvl="0"/>
            <a:r>
              <a:rPr/>
              <a:t>Goal: discover/characterize behavioral segments, then find transactions &amp; customers that don’t fit any of them</a:t>
            </a:r>
          </a:p>
          <a:p>
            <a:pPr lvl="0"/>
            <a:r>
              <a:rPr/>
              <a:t>Not a predictive-modelling exercise; clustering is a means, not the end</a:t>
            </a:r>
          </a:p>
          <a:p>
            <a:pPr lvl="0"/>
            <a:r>
              <a:rPr/>
              <a:t>Main axes of interest: cancellation behavior and order total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high-value customers</a:t>
            </a:r>
          </a:p>
          <a:p>
            <a:pPr lvl="0"/>
            <a:r>
              <a:rPr/>
              <a:t>Identify segments associated with frequent cancellations</a:t>
            </a:r>
          </a:p>
          <a:p>
            <a:pPr lvl="0"/>
            <a:r>
              <a:rPr/>
              <a:t>Detect emerging changes in purchasing patterns</a:t>
            </a:r>
          </a:p>
          <a:p>
            <a:pPr lvl="0"/>
            <a:r>
              <a:rPr/>
              <a:t>Supports retention, marketing, and operational decisions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online_retail_II.csv</a:t>
            </a:r>
            <a:r>
              <a:rPr/>
              <a:t> (Kaggle) - transaction log, Dec 2009 - Dec 2011</a:t>
            </a:r>
          </a:p>
          <a:p>
            <a:pPr lvl="0"/>
            <a:r>
              <a:rPr/>
              <a:t>~1.07M line-item rows, 43 countries</a:t>
            </a:r>
          </a:p>
          <a:p>
            <a:pPr lvl="0"/>
            <a:r>
              <a:rPr/>
              <a:t>UK-only: 94.7% of all transactions; other countries too sparse for safe inference</a:t>
            </a:r>
          </a:p>
          <a:p>
            <a:pPr lvl="0"/>
            <a:r>
              <a:rPr/>
              <a:t>~1/4 of UK rows are guest purchases (no Customer ID) - dropped</a:t>
            </a:r>
          </a:p>
          <a:p>
            <a:pPr lvl="0"/>
            <a:r>
              <a:rPr/>
              <a:t>After filtering: ~741,000 transaction rows -&gt; ~40,500 invoices from ~5,400 customers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Unit of Analysis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Unit of analysis: the individual invoice</a:t>
            </a:r>
          </a:p>
          <a:p>
            <a:pPr lvl="0"/>
            <a:r>
              <a:rPr/>
              <a:t>Described by its own transaction-level features + its customer’s aggregated behavior</a:t>
            </a:r>
          </a:p>
          <a:p>
            <a:pPr lvl="0"/>
            <a:r>
              <a:rPr/>
              <a:t>A customer’s routine invoices can cluster normally while a few of their invoices stand out as outliers</a:t>
            </a:r>
          </a:p>
          <a:p>
            <a:pPr lvl="0"/>
            <a:r>
              <a:rPr/>
              <a:t>Out of scope: regression on cancellation probability, basket prediction, clustering as an end in itself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and characterize purchasing behavior that differs substantially from the major segments</a:t>
            </a:r>
          </a:p>
          <a:p>
            <a:pPr lvl="0"/>
            <a:r>
              <a:rPr/>
              <a:t>Trace those outliers back to the customers who produced them</a:t>
            </a:r>
          </a:p>
          <a:p>
            <a:pPr lvl="0"/>
            <a:r>
              <a:rPr/>
              <a:t>Example: if 3 well-defined clusters emerge - which transactions/customers fit none of them?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Customer Segmentation &amp; Retention Strategy (Kaggle) - segments as end product for retention</a:t>
            </a:r>
          </a:p>
          <a:p>
            <a:pPr lvl="0"/>
            <a:r>
              <a:rPr/>
              <a:t>Online Retail Cohort Analysis (Kaggle, same dataset) - descriptive cohorts/trends, not segmentation+outliers</a:t>
            </a:r>
          </a:p>
          <a:p>
            <a:pPr lvl="0"/>
            <a:r>
              <a:rPr/>
              <a:t>Enhanced RFM / RFMT (Kaggle) - adds Inter-Purchase-Time to RFM; segmentation is the end goal there</a:t>
            </a:r>
          </a:p>
          <a:p>
            <a:pPr lvl="0"/>
            <a:r>
              <a:rPr/>
              <a:t>Recommendation Systems (Kaggle) - association rules &amp; collaborative filtering, different question entirely</a:t>
            </a:r>
          </a:p>
          <a:p>
            <a:pPr lvl="0"/>
            <a:r>
              <a:rPr/>
              <a:t>This project differs: segmentation is a baseline, not the deliverable - the deliverable is what doesn’t fit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Filter to UK, drop guest transactions</a:t>
            </a:r>
          </a:p>
          <a:p>
            <a:pPr lvl="0"/>
            <a:r>
              <a:rPr/>
              <a:t>Build customer-level features:</a:t>
            </a:r>
          </a:p>
          <a:p>
            <a:pPr lvl="1"/>
            <a:r>
              <a:rPr/>
              <a:t>Timing: day of week, hour, avg. shopping trips per month</a:t>
            </a:r>
          </a:p>
          <a:p>
            <a:pPr lvl="1"/>
            <a:r>
              <a:rPr/>
              <a:t>Spending: avg/min/max/std of transaction totals</a:t>
            </a:r>
          </a:p>
          <a:p>
            <a:pPr lvl="1"/>
            <a:r>
              <a:rPr/>
              <a:t>Product: avg/min/max/std of items purchased, most frequent products</a:t>
            </a:r>
          </a:p>
          <a:p>
            <a:pPr lvl="1"/>
            <a:r>
              <a:rPr/>
              <a:t>Cancellations: % of cancelled transactions</a:t>
            </a:r>
          </a:p>
          <a:p>
            <a:pPr lvl="0"/>
            <a:r>
              <a:rPr/>
              <a:t>Join customer-level features back onto invoice-level records</a:t>
            </a:r>
          </a:p>
          <a:p>
            <a:pPr lvl="0"/>
            <a:r>
              <a:rPr/>
              <a:t>Feasibility: ~50 engineered features, ~40,500 invoices, ~5,400 customers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Explore segmentation using engineered behavioral features</a:t>
            </a:r>
          </a:p>
          <a:p>
            <a:pPr lvl="0"/>
            <a:r>
              <a:rPr/>
              <a:t>Characterize the common patterns found in each segment</a:t>
            </a:r>
          </a:p>
          <a:p>
            <a:pPr lvl="0"/>
            <a:r>
              <a:rPr/>
              <a:t>Identify transactions/customers whose behavior differs significantly from the majority or from any segment</a:t>
            </a:r>
          </a:p>
          <a:p>
            <a:pPr lvl="0"/>
            <a:r>
              <a:rPr/>
              <a:t>Particular focus: spending, purchase composition, cancellation behavior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Baseline: KMeans (quick, cheap, first impression - cannot produce outliers)</a:t>
            </a:r>
          </a:p>
          <a:p>
            <a:pPr lvl="0"/>
            <a:r>
              <a:rPr/>
              <a:t>Working model: DBSCAN (produces outliers - the “working horse” of this research)</a:t>
            </a:r>
          </a:p>
          <a:p>
            <a:pPr lvl="0"/>
            <a:r>
              <a:rPr/>
              <a:t>Two distance metrics evaluated: euclidean and cosine</a:t>
            </a:r>
          </a:p>
          <a:p>
            <a:pPr lvl="1"/>
            <a:r>
              <a:rPr/>
              <a:t>DBSCAN supports cosine natively; “cosine KMeans” approximated via L2-normalization + euclidean KMeans</a:t>
            </a:r>
          </a:p>
          <a:p>
            <a:pPr lvl="0"/>
            <a:r>
              <a:rPr/>
              <a:t>Evaluated on: silhouette score (direction, not verdict), stability under hyper-parameter changes, interpretability</a:t>
            </a:r>
          </a:p>
          <a:p>
            <a:pPr lvl="0"/>
            <a:r>
              <a:rPr/>
              <a:t>Target: stable, 2-3 interpretable clusters, manageable/interpretable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Question: how does cluster A differ from cluster B? How do outliers differ from inliers?</a:t>
            </a:r>
          </a:p>
          <a:p>
            <a:pPr lvl="0"/>
            <a:r>
              <a:rPr/>
              <a:t>Raw mean differences aren’t comparable across features on different scales</a:t>
            </a:r>
          </a:p>
          <a:p>
            <a:pPr lvl="0"/>
            <a:r>
              <a:rPr/>
              <a:t>Solution: Cohen’s d - standardized mean difference, comparable across features</a:t>
            </a:r>
          </a:p>
          <a:p>
            <a:pPr lvl="0"/>
            <a:r>
              <a:rPr/>
              <a:t>Take the top 5-10 features with |Cohen’s d| &gt; 0.8 to characterize/define each population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be completed once clustering, outlier detection, and Cohen’s d analyses are finalized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reference list in the project proposition document (</a:t>
            </a:r>
            <a:r>
              <a:rPr>
                <a:latin typeface="Courier"/>
              </a:rPr>
              <a:t>project_proposition_draft.md</a:t>
            </a:r>
            <a:r>
              <a:rPr/>
              <a:t>, Section 7)</a:t>
            </a:r>
          </a:p>
          <a:p>
            <a:pPr lvl="0"/>
            <a:r>
              <a:rPr/>
              <a:t>Covers: PCA (Jolliffe 2002), KMeans (MacQueen 1967), DBSCAN (Ester et al. 1996; Schubert et al. 2017), silhouette score &amp; DBSCAN docs (scikit-learn), Cohen’s d (Cohen 1988), explainable anomaly detection (Li et al. 2023)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slide deck condenses the author’s own approved project proposition draft into slide format</a:t>
            </a:r>
          </a:p>
          <a:p>
            <a:pPr lvl="0"/>
            <a:r>
              <a:rPr/>
              <a:t>AI assistance (Claude Code) was used to draft the condensed slide wording and the pandoc conversion workflow</a:t>
            </a:r>
          </a:p>
          <a:p>
            <a:pPr lvl="0"/>
            <a:r>
              <a:rPr/>
              <a:t>Full log, prompts, and adaptation notes: </a:t>
            </a:r>
            <a:r>
              <a:rPr>
                <a:latin typeface="Courier"/>
              </a:rPr>
              <a:t>ai_disclosure.md</a:t>
            </a:r>
            <a:r>
              <a:rPr/>
              <a:t>, entry dated 2026-07-20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2026-07-20T18:51:20Z</dcterms:created>
  <dcterms:modified xsi:type="dcterms:W3CDTF">2026-07-20T18:51:20Z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