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77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7" d="100"/>
          <a:sy n="137" d="100"/>
        </p:scale>
        <p:origin x="144" y="1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Discovering Unusual Customer Purchasing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PROJECT PROPOSITION</a:t>
            </a:r>
          </a:p>
          <a:p>
            <a:pPr marL="0" indent="0">
              <a:buNone/>
            </a:pPr>
            <a:r>
              <a:rPr lang="en-US" dirty="0"/>
              <a:t>Data Mining Project </a:t>
            </a:r>
          </a:p>
          <a:p>
            <a:pPr marL="0" indent="0">
              <a:buNone/>
            </a:pPr>
            <a:r>
              <a:rPr lang="en-US" sz="1400" dirty="0"/>
              <a:t>CSCA 5522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Simon S.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sash1081@colorado.edu</a:t>
            </a: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 algn="r">
              <a:buNone/>
            </a:pPr>
            <a:r>
              <a:rPr lang="en-US" sz="1400" dirty="0"/>
              <a:t>University of Colorado, Boulder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Investigates unusual customer purchasing behavior in UK online retail transactions</a:t>
            </a:r>
          </a:p>
          <a:p>
            <a:pPr lvl="0"/>
            <a:r>
              <a:t>Invoice-level dataset: each transaction’s own features + aggregated customer-level behavior</a:t>
            </a:r>
          </a:p>
          <a:p>
            <a:pPr lvl="0"/>
            <a:r>
              <a:t>Goal: discover/characterize behavioral segments, then find transactions &amp; customers that don’t fit any of them</a:t>
            </a:r>
          </a:p>
          <a:p>
            <a:pPr lvl="0"/>
            <a:r>
              <a:t>Not a predictive-modelling exercise; clustering is a means, not the end</a:t>
            </a:r>
          </a:p>
          <a:p>
            <a:pPr lvl="0"/>
            <a:r>
              <a:t>Main axes of interest: cancellation behavior and order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Motivation: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high-value customers</a:t>
            </a:r>
          </a:p>
          <a:p>
            <a:pPr lvl="0"/>
            <a:r>
              <a:t>Identify segments associated with frequent cancellations</a:t>
            </a:r>
          </a:p>
          <a:p>
            <a:pPr lvl="0"/>
            <a:r>
              <a:t>Detect emerging changes in purchasing patterns</a:t>
            </a:r>
          </a:p>
          <a:p>
            <a:pPr lvl="0"/>
            <a:r>
              <a:t>Supports retention, marketing, and operational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>
                <a:latin typeface="Courier"/>
              </a:rPr>
              <a:t>online_retail_II.csv</a:t>
            </a:r>
            <a:r>
              <a:t> (Kaggle) - transaction log, Dec 2009 - Dec 2011</a:t>
            </a:r>
          </a:p>
          <a:p>
            <a:pPr lvl="0"/>
            <a:r>
              <a:t>~1.07M line-item rows, 43 countries</a:t>
            </a:r>
          </a:p>
          <a:p>
            <a:pPr lvl="0"/>
            <a:r>
              <a:t>UK-only: 94.7% of all transactions; other countries too sparse for safe inference</a:t>
            </a:r>
          </a:p>
          <a:p>
            <a:pPr lvl="0"/>
            <a:r>
              <a:t>~1/4 of UK rows are guest purchases (no Customer ID) - dropped</a:t>
            </a:r>
          </a:p>
          <a:p>
            <a:pPr lvl="0"/>
            <a:r>
              <a:t>After filtering: ~741,000 transaction rows -&gt; ~40,500 invoices from ~5,400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Unit of Analysis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Unit of analysis: the individual invoice</a:t>
            </a:r>
          </a:p>
          <a:p>
            <a:pPr lvl="0"/>
            <a:r>
              <a:t>Described by its own transaction-level features + its customer’s aggregated behavior</a:t>
            </a:r>
          </a:p>
          <a:p>
            <a:pPr lvl="0"/>
            <a:r>
              <a:t>A customer’s routine invoices can cluster normally while a few of their invoices stand out as outliers</a:t>
            </a:r>
          </a:p>
          <a:p>
            <a:pPr lvl="0"/>
            <a:r>
              <a:t>Out of scope: regression on cancellation probability, basket prediction, clustering as an end in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and characterize purchasing behavior that differs substantially from the major segments</a:t>
            </a:r>
          </a:p>
          <a:p>
            <a:pPr lvl="0"/>
            <a:r>
              <a:t>Trace those outliers back to the customers who produced them</a:t>
            </a:r>
          </a:p>
          <a:p>
            <a:pPr lvl="0"/>
            <a:r>
              <a:t>Example: if 3 well-defined clusters emerge - which transactions/customers fit none of them?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Customer Segmentation &amp; Retention Strategy (Kaggle) - segments as end product for retention</a:t>
            </a:r>
          </a:p>
          <a:p>
            <a:pPr lvl="0"/>
            <a:r>
              <a:t>Online Retail Cohort Analysis (Kaggle, same dataset) - descriptive cohorts/trends, not segmentation+outliers</a:t>
            </a:r>
          </a:p>
          <a:p>
            <a:pPr lvl="0"/>
            <a:r>
              <a:t>Enhanced RFM / RFMT (Kaggle) - adds Inter-Purchase-Time to RFM; segmentation is the end goal there</a:t>
            </a:r>
          </a:p>
          <a:p>
            <a:pPr lvl="0"/>
            <a:r>
              <a:t>Recommendation Systems (Kaggle) - association rules &amp; collaborative filtering, different question entirely</a:t>
            </a:r>
          </a:p>
          <a:p>
            <a:pPr lvl="0"/>
            <a:r>
              <a:t>This project differs: segmentation is a baseline, not the deliverable - the deliverable is what doesn’t 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Filter to UK, drop guest transactions</a:t>
            </a:r>
          </a:p>
          <a:p>
            <a:pPr lvl="0"/>
            <a:r>
              <a:t>Build customer-level features:</a:t>
            </a:r>
          </a:p>
          <a:p>
            <a:pPr lvl="1"/>
            <a:r>
              <a:t>Timing: day of week, hour, avg. shopping trips per month</a:t>
            </a:r>
          </a:p>
          <a:p>
            <a:pPr lvl="1"/>
            <a:r>
              <a:t>Spending: avg/min/max/std of transaction totals</a:t>
            </a:r>
          </a:p>
          <a:p>
            <a:pPr lvl="1"/>
            <a:r>
              <a:t>Product: avg/min/max/std of items purchased, most frequent products</a:t>
            </a:r>
          </a:p>
          <a:p>
            <a:pPr lvl="1"/>
            <a:r>
              <a:t>Cancellations: % of cancelled transactions</a:t>
            </a:r>
          </a:p>
          <a:p>
            <a:pPr lvl="0"/>
            <a:r>
              <a:t>Join customer-level features back onto invoice-level records</a:t>
            </a:r>
          </a:p>
          <a:p>
            <a:pPr lvl="0"/>
            <a:r>
              <a:t>Feasibility: ~50 engineered features, ~40,500 invoices, ~5,400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Explore segmentation using engineered behavioral features</a:t>
            </a:r>
          </a:p>
          <a:p>
            <a:pPr lvl="0"/>
            <a:r>
              <a:t>Characterize the common patterns found in each segment</a:t>
            </a:r>
          </a:p>
          <a:p>
            <a:pPr lvl="0"/>
            <a:r>
              <a:t>Identify transactions/customers whose behavior differs significantly from the majority or from any segment</a:t>
            </a:r>
          </a:p>
          <a:p>
            <a:pPr lvl="0"/>
            <a:r>
              <a:t>Particular focus: spending, purchase composition, cancellation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t>Baseline: KMeans (quick, cheap, first impression - cannot produce outliers)</a:t>
            </a:r>
          </a:p>
          <a:p>
            <a:pPr lvl="0"/>
            <a:r>
              <a:t>Working model: DBSCAN (produces outliers - the “working horse” of this research)</a:t>
            </a:r>
          </a:p>
          <a:p>
            <a:pPr lvl="0"/>
            <a:r>
              <a:t>Two distance metrics evaluated: euclidean and cosine</a:t>
            </a:r>
          </a:p>
          <a:p>
            <a:pPr lvl="1"/>
            <a:r>
              <a:t>DBSCAN supports cosine natively; “cosine KMeans” approximated via L2-normalization + euclidean KMeans</a:t>
            </a:r>
          </a:p>
          <a:p>
            <a:pPr lvl="0"/>
            <a:r>
              <a:t>Evaluated on: silhouette score (direction, not verdict), stability under hyper-parameter changes, interpretability</a:t>
            </a:r>
          </a:p>
          <a:p>
            <a:pPr lvl="0"/>
            <a:r>
              <a:t>Target: stable, 2-3 interpretable clusters, manageable/interpretable outliers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Characterizing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Question: how does cluster A differ from cluster B? How do outliers differ from inliers?</a:t>
            </a:r>
          </a:p>
          <a:p>
            <a:pPr lvl="0"/>
            <a:r>
              <a:t>Raw mean differences aren’t comparable across features on different scales</a:t>
            </a:r>
          </a:p>
          <a:p>
            <a:pPr lvl="0"/>
            <a:r>
              <a:t>Solution: Cohen’s d - standardized mean difference, comparable across features</a:t>
            </a:r>
          </a:p>
          <a:p>
            <a:pPr lvl="0"/>
            <a:r>
              <a:t>Take the top 5-10 features with |Cohen’s d| &gt; 0.8 to characterize/define each population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PCA: No Easy Shortcut</a:t>
            </a:r>
          </a:p>
        </p:txBody>
      </p:sp>
      <p:pic>
        <p:nvPicPr>
          <p:cNvPr id="4" name="Picture 1" descr="../assets/04_pca_scatt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24500" y="957815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PCA of customer features, first 2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371227" cy="3394472"/>
          </a:xfrm>
        </p:spPr>
        <p:txBody>
          <a:bodyPr>
            <a:normAutofit/>
          </a:bodyPr>
          <a:lstStyle/>
          <a:p>
            <a:pPr lvl="0"/>
            <a:r>
              <a:rPr sz="1600" dirty="0"/>
              <a:t>PCA fitted to retain 95% of variance</a:t>
            </a:r>
          </a:p>
          <a:p>
            <a:pPr lvl="0"/>
            <a:r>
              <a:rPr sz="1600" dirty="0"/>
              <a:t>First 2 principal components explain only ~25% of total variance</a:t>
            </a:r>
          </a:p>
          <a:p>
            <a:pPr lvl="0"/>
            <a:r>
              <a:rPr sz="1600" dirty="0"/>
              <a:t>No obvious low-dimensional cluster structure - full feature space needed for clustering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 Selection: KMeans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Distance metric mattered: euclidean vs. cosine, both tested</a:t>
            </a:r>
          </a:p>
          <a:p>
            <a:pPr lvl="0"/>
            <a:r>
              <a:t>Euclidean on standardized features: best k=3, silhouette = 0.486</a:t>
            </a:r>
          </a:p>
          <a:p>
            <a:pPr lvl="0"/>
            <a:r>
              <a:t>Cosine on L2-normalized features: best k=5, silhouette = 0.161</a:t>
            </a:r>
          </a:p>
          <a:p>
            <a:pPr lvl="0"/>
            <a:r>
              <a:t>Euclidean clearly stronger - cosine KMeans dropped from further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DBSCAN: Parameter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eps</a:t>
            </a:r>
            <a:r>
              <a:t> and </a:t>
            </a:r>
            <a:r>
              <a:rPr>
                <a:latin typeface="Courier"/>
              </a:rPr>
              <a:t>min_samples</a:t>
            </a:r>
            <a:r>
              <a:t> swept systematically (k-distance plot + stability sweeps)</a:t>
            </a:r>
          </a:p>
          <a:p>
            <a:pPr lvl="0"/>
            <a:r>
              <a:rPr>
                <a:latin typeface="Courier"/>
              </a:rPr>
              <a:t>min_samples = 23</a:t>
            </a:r>
            <a:r>
              <a:t>: start of a stable region where silhouette/noise behavior stop swinging</a:t>
            </a:r>
          </a:p>
          <a:p>
            <a:pPr lvl="0"/>
            <a:r>
              <a:rPr>
                <a:latin typeface="Courier"/>
              </a:rPr>
              <a:t>eps = 9.0</a:t>
            </a:r>
            <a:r>
              <a:t>: chosen within that stable region for the best silhouette and an interpretable noise count</a:t>
            </a:r>
          </a:p>
          <a:p>
            <a:pPr lvl="0"/>
            <a:r>
              <a:t>Cosine-metric DBSCAN also tried, but unstable (silhouette negative, noise count swings from 0 to 33k+) - dropped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 Model: Locked DBSCAN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Metric:</a:t>
            </a:r>
            <a:r>
              <a:t> euclidean   </a:t>
            </a:r>
            <a:r>
              <a:rPr b="1"/>
              <a:t>eps:</a:t>
            </a:r>
            <a:r>
              <a:t> 9.0   </a:t>
            </a:r>
            <a:r>
              <a:rPr b="1"/>
              <a:t>min_samples:</a:t>
            </a:r>
            <a:r>
              <a:t> 23</a:t>
            </a:r>
          </a:p>
          <a:p>
            <a:pPr lvl="0"/>
            <a:r>
              <a:rPr b="1"/>
              <a:t>Clusters found:</a:t>
            </a:r>
            <a:r>
              <a:t> 2</a:t>
            </a:r>
          </a:p>
          <a:p>
            <a:pPr lvl="0"/>
            <a:r>
              <a:rPr b="1"/>
              <a:t>Noise points (outliers):</a:t>
            </a:r>
            <a:r>
              <a:t> 134</a:t>
            </a:r>
          </a:p>
          <a:p>
            <a:pPr lvl="0"/>
            <a:r>
              <a:rPr b="1"/>
              <a:t>Silhouette score:</a:t>
            </a:r>
            <a:r>
              <a:t> 0.65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Who Are the Outliers?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134 outlier invoices trace back to only </a:t>
            </a:r>
            <a:r>
              <a:rPr b="1"/>
              <a:t>41 distinct customers</a:t>
            </a:r>
          </a:p>
          <a:p>
            <a:pPr lvl="0"/>
            <a:r>
              <a:t>Only </a:t>
            </a:r>
            <a:r>
              <a:rPr b="1"/>
              <a:t>13</a:t>
            </a:r>
            <a:r>
              <a:t> of those 41 also appear in the main clusters</a:t>
            </a:r>
          </a:p>
          <a:p>
            <a:pPr lvl="0"/>
            <a:r>
              <a:t>Most outlier customers are a </a:t>
            </a:r>
            <a:r>
              <a:rPr b="1"/>
              <a:t>separate population</a:t>
            </a:r>
            <a:r>
              <a:t> - not occasional lapses by otherwise-typical customers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 Early Hint: Bulk Orders</a:t>
            </a:r>
          </a:p>
        </p:txBody>
      </p:sp>
      <p:pic>
        <p:nvPicPr>
          <p:cNvPr id="4" name="Picture 1" descr="../assets/03_invoice_distribu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886672"/>
            <a:ext cx="816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502488"/>
            <a:ext cx="8229600" cy="508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1800" dirty="0"/>
              <a:t>Distribution of invoice total, unit price, and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04177"/>
            <a:ext cx="8229600" cy="725941"/>
          </a:xfrm>
        </p:spPr>
        <p:txBody>
          <a:bodyPr>
            <a:normAutofit/>
          </a:bodyPr>
          <a:lstStyle/>
          <a:p>
            <a:pPr lvl="0"/>
            <a:r>
              <a:rPr sz="1200" dirty="0"/>
              <a:t>Spotted during feature engineering, before any clustering: a long tail of very large quantities (25K+ items per invoice)</a:t>
            </a:r>
          </a:p>
          <a:p>
            <a:pPr lvl="0"/>
            <a:r>
              <a:rPr sz="1200" dirty="0"/>
              <a:t>Suggested a mix of regular shoppers and business/reseller accounts - foreshadowing the outlier finding below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Outliers vs. Clusters: What Makes Them Different</a:t>
            </a:r>
          </a:p>
        </p:txBody>
      </p:sp>
      <p:pic>
        <p:nvPicPr>
          <p:cNvPr id="4" name="Picture 1" descr="../assets/04_cohens_d_outliers_vs_cluster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928557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809609"/>
            <a:ext cx="8229600" cy="313817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1200" dirty="0"/>
              <a:t>Cohen’s d, outliers vs. clusters, top 5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8049"/>
            <a:ext cx="8229600" cy="857250"/>
          </a:xfrm>
        </p:spPr>
        <p:txBody>
          <a:bodyPr>
            <a:normAutofit/>
          </a:bodyPr>
          <a:lstStyle/>
          <a:p>
            <a:pPr lvl="0"/>
            <a:r>
              <a:rPr sz="1200" dirty="0"/>
              <a:t>Largest effect sizes are all </a:t>
            </a:r>
            <a:r>
              <a:rPr sz="1200" b="1" dirty="0"/>
              <a:t>variability</a:t>
            </a:r>
            <a:r>
              <a:rPr sz="1200" dirty="0"/>
              <a:t> measures: std. total quantity, std. invoice amount, max quantity</a:t>
            </a:r>
          </a:p>
          <a:p>
            <a:pPr lvl="0"/>
            <a:r>
              <a:rPr sz="1200" dirty="0"/>
              <a:t>Plus one cancellation signal: extreme negative minimum invoice total</a:t>
            </a:r>
          </a:p>
          <a:p>
            <a:pPr lvl="0"/>
            <a:r>
              <a:rPr sz="1200" dirty="0"/>
              <a:t>Label: </a:t>
            </a:r>
            <a:r>
              <a:rPr sz="1200" b="1" dirty="0"/>
              <a:t>high-volume, high-volatility wholesale transactions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Cluster 0 vs. Cluster 1: What Splits Them</a:t>
            </a:r>
          </a:p>
        </p:txBody>
      </p:sp>
      <p:pic>
        <p:nvPicPr>
          <p:cNvPr id="4" name="Picture 1" descr="../assets/04_cohens_d_cluster0_vs_cluster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900638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802637"/>
            <a:ext cx="8229600" cy="508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1400" dirty="0"/>
              <a:t>Cohen’s d, Cluster 0 vs. Cluster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61873"/>
            <a:ext cx="8229600" cy="1061418"/>
          </a:xfrm>
        </p:spPr>
        <p:txBody>
          <a:bodyPr>
            <a:normAutofit lnSpcReduction="10000"/>
          </a:bodyPr>
          <a:lstStyle/>
          <a:p>
            <a:pPr lvl="0"/>
            <a:r>
              <a:rPr sz="1400" dirty="0"/>
              <a:t>Single dominant driver: </a:t>
            </a:r>
            <a:r>
              <a:rPr sz="1400" dirty="0" err="1">
                <a:latin typeface="Courier"/>
              </a:rPr>
              <a:t>customer_total_spend</a:t>
            </a:r>
            <a:r>
              <a:rPr sz="1400" dirty="0"/>
              <a:t> - about 20 standard deviations apart</a:t>
            </a:r>
          </a:p>
          <a:p>
            <a:pPr lvl="0"/>
            <a:r>
              <a:rPr sz="1400" dirty="0"/>
              <a:t>Cluster 0 avg. total spend: </a:t>
            </a:r>
            <a:r>
              <a:rPr sz="1400" b="1" dirty="0"/>
              <a:t>13,158</a:t>
            </a:r>
          </a:p>
          <a:p>
            <a:pPr lvl="0"/>
            <a:r>
              <a:rPr sz="1400" dirty="0"/>
              <a:t>Cluster 1 avg. total spend: </a:t>
            </a:r>
            <a:r>
              <a:rPr sz="1400" b="1" dirty="0"/>
              <a:t>598,215</a:t>
            </a:r>
          </a:p>
          <a:p>
            <a:pPr lvl="0"/>
            <a:r>
              <a:rPr sz="1400" dirty="0"/>
              <a:t>Label: Cluster 1 = </a:t>
            </a:r>
            <a:r>
              <a:rPr sz="1400" b="1" dirty="0"/>
              <a:t>high total spend</a:t>
            </a:r>
            <a:r>
              <a:rPr sz="1400" dirty="0"/>
              <a:t> customers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Cancellations, in Context</a:t>
            </a:r>
          </a:p>
        </p:txBody>
      </p:sp>
      <p:pic>
        <p:nvPicPr>
          <p:cNvPr id="4" name="Picture 1" descr="../assets/01_cancellations_pi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03500" y="1591667"/>
            <a:ext cx="392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551349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Cancellations vs. non-cancellations, 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733351"/>
          </a:xfrm>
        </p:spPr>
        <p:txBody>
          <a:bodyPr>
            <a:normAutofit/>
          </a:bodyPr>
          <a:lstStyle/>
          <a:p>
            <a:pPr lvl="0"/>
            <a:r>
              <a:rPr sz="1400" dirty="0"/>
              <a:t>Only 1.7% of UK transactions are cancellations</a:t>
            </a:r>
          </a:p>
          <a:p>
            <a:pPr lvl="0"/>
            <a:r>
              <a:rPr sz="1400" dirty="0"/>
              <a:t>Rare, but part of what defines the outlier profile above (extreme negative invoice minimums)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t>DBSCAN flagged 134 outlier invoices from 41 customers, falling into two profiles: </a:t>
            </a:r>
            <a:r>
              <a:rPr b="1"/>
              <a:t>high-volume wholesale accounts</a:t>
            </a:r>
            <a:r>
              <a:t> and </a:t>
            </a:r>
            <a:r>
              <a:rPr b="1"/>
              <a:t>high-value cancellation/adjustment records</a:t>
            </a:r>
          </a:p>
          <a:p>
            <a:pPr lvl="0"/>
            <a:r>
              <a:t>Distinguishing features: </a:t>
            </a:r>
            <a:r>
              <a:rPr>
                <a:latin typeface="Courier"/>
              </a:rPr>
              <a:t>customer_std_total_quantity</a:t>
            </a:r>
            <a:r>
              <a:t>, </a:t>
            </a:r>
            <a:r>
              <a:rPr>
                <a:latin typeface="Courier"/>
              </a:rPr>
              <a:t>customer_min_invoice_total_amount</a:t>
            </a:r>
            <a:r>
              <a:t>, </a:t>
            </a:r>
            <a:r>
              <a:rPr>
                <a:latin typeface="Courier"/>
              </a:rPr>
              <a:t>customer_max_total_quantity</a:t>
            </a:r>
            <a:r>
              <a:t>, </a:t>
            </a:r>
            <a:r>
              <a:rPr>
                <a:latin typeface="Courier"/>
              </a:rPr>
              <a:t>customer_avg_unit_price</a:t>
            </a:r>
            <a:r>
              <a:t>, </a:t>
            </a:r>
            <a:r>
              <a:rPr>
                <a:latin typeface="Courier"/>
              </a:rPr>
              <a:t>customer_std_invoice_total_amount</a:t>
            </a:r>
          </a:p>
          <a:p>
            <a:pPr lvl="0"/>
            <a:r>
              <a:t>These outlier customers mostly do </a:t>
            </a:r>
            <a:r>
              <a:rPr b="1"/>
              <a:t>not</a:t>
            </a:r>
            <a:r>
              <a:t> have normal invoices in the main clusters - a genuinely separate population</a:t>
            </a:r>
          </a:p>
          <a:p>
            <a:pPr lvl="0"/>
            <a:r>
              <a:t>A meaningful 2-cluster split also emerged, driven by total spend</a:t>
            </a:r>
          </a:p>
          <a:p>
            <a:pPr lvl="0"/>
            <a:r>
              <a:t>Answers the original question: unusual behavior is concentrated in a small, identifiable customer population - not scattered noise across otherwise-typical customers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57A3-7C47-AF85-D1CC-AE429FF7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b="1" dirty="0"/>
              <a:t>Future Work</a:t>
            </a:r>
            <a:br>
              <a:rPr lang="" dirty="0"/>
            </a:b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DB7A-A667-9A55-167C-6313BFCAC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" sz="1200" dirty="0"/>
              <a:t>Detecting sudden spikes in individual customer behavior: changes in amount spent, items purchased, or shopping trip timing.</a:t>
            </a:r>
          </a:p>
          <a:p>
            <a:r>
              <a:rPr lang="" sz="1200" dirty="0"/>
              <a:t>Detecting changes in the population's purchasing behavior as a result of external events: natural disasters, economic crises, war,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" sz="1200" dirty="0"/>
              <a:t>This kind of research would require significant effort, and </a:t>
            </a:r>
            <a:r>
              <a:rPr lang="" sz="1200" b="1" dirty="0"/>
              <a:t>**may not be achievable**</a:t>
            </a:r>
            <a:r>
              <a:rPr lang="" sz="1200" dirty="0"/>
              <a:t> with our dataset. Problems </a:t>
            </a:r>
            <a:r>
              <a:rPr lang="" sz="1200"/>
              <a:t>include:</a:t>
            </a:r>
          </a:p>
          <a:p>
            <a:pPr marL="0" indent="0">
              <a:buNone/>
            </a:pPr>
            <a:endParaRPr lang="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" sz="1200" dirty="0"/>
              <a:t>Potential data scarcity: there are many invoices in </a:t>
            </a:r>
            <a:r>
              <a:rPr lang="" sz="1200" b="1" dirty="0"/>
              <a:t>**total**</a:t>
            </a:r>
            <a:r>
              <a:rPr lang="" sz="1200" dirty="0"/>
              <a:t>, but relatively few per individual customer.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sz="1200" dirty="0"/>
              <a:t>Missing product information beyond the SKU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sz="1200" dirty="0"/>
              <a:t>There are seasonal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sz="1200" dirty="0"/>
              <a:t>Missing regional granularity.</a:t>
            </a:r>
          </a:p>
          <a:p>
            <a:pPr>
              <a:buFont typeface="Arial" panose="020B0604020202020204" pitchFamily="34" charset="0"/>
              <a:buChar char="•"/>
            </a:pPr>
            <a:endParaRPr lang="" sz="1200" dirty="0"/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99033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Full reference list in the project proposition document (</a:t>
            </a:r>
            <a:r>
              <a:rPr>
                <a:latin typeface="Courier"/>
              </a:rPr>
              <a:t>project_proposition_draft.md</a:t>
            </a:r>
            <a:r>
              <a:t>, Section 8)</a:t>
            </a:r>
          </a:p>
          <a:p>
            <a:pPr lvl="0"/>
            <a:r>
              <a:t>Covers: PCA (Jolliffe 2002), KMeans (MacQueen 1967), DBSCAN (Ester et al. 1996; Schubert et al. 2017), silhouette score &amp; DBSCAN docs (scikit-learn), Cohen’s d (Cohen 1988), explainable anomaly detection (Li et al. 2023)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1402</Words>
  <Application>Microsoft Office PowerPoint</Application>
  <PresentationFormat>On-screen Show (16:9)</PresentationFormat>
  <Paragraphs>133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</vt:lpstr>
      <vt:lpstr>Office Theme</vt:lpstr>
      <vt:lpstr>Discovering Unusual Customer Purchasing Behavior</vt:lpstr>
      <vt:lpstr>Abstract</vt:lpstr>
      <vt:lpstr>Motivation: Business Value</vt:lpstr>
      <vt:lpstr>The Dataset</vt:lpstr>
      <vt:lpstr>Unit of Analysis &amp; Scope</vt:lpstr>
      <vt:lpstr>Objective</vt:lpstr>
      <vt:lpstr>Related Work</vt:lpstr>
      <vt:lpstr>Proposed Work: Feature Engineering</vt:lpstr>
      <vt:lpstr>Proposed Work: Analysis Flow</vt:lpstr>
      <vt:lpstr>Evaluation: Clustering</vt:lpstr>
      <vt:lpstr>Evaluation: Characterizing Differences</vt:lpstr>
      <vt:lpstr>PCA: No Easy Shortcut</vt:lpstr>
      <vt:lpstr>Model Selection: KMeans Baseline</vt:lpstr>
      <vt:lpstr>DBSCAN: Parameter Selection</vt:lpstr>
      <vt:lpstr>Final Model: Locked DBSCAN Result</vt:lpstr>
      <vt:lpstr>Who Are the Outliers?</vt:lpstr>
      <vt:lpstr>An Early Hint: Bulk Orders</vt:lpstr>
      <vt:lpstr>Outliers vs. Clusters: What Makes Them Different</vt:lpstr>
      <vt:lpstr>Cluster 0 vs. Cluster 1: What Splits Them</vt:lpstr>
      <vt:lpstr>Cancellations, in Context</vt:lpstr>
      <vt:lpstr>Conclusions</vt:lpstr>
      <vt:lpstr>Future Work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Simon Shtock</cp:lastModifiedBy>
  <cp:revision>8</cp:revision>
  <dcterms:created xsi:type="dcterms:W3CDTF">2026-07-23T11:27:20Z</dcterms:created>
  <dcterms:modified xsi:type="dcterms:W3CDTF">2026-07-23T12:40:11Z</dcterms:modified>
</cp:coreProperties>
</file>