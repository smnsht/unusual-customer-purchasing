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202" d="100"/>
          <a:sy n="202" d="100"/>
        </p:scale>
        <p:origin x="616" y="1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olgaluzhetska/online-retail-cohort-analysis-and-other-stories" TargetMode="External"/><Relationship Id="rId2" Type="http://schemas.openxmlformats.org/officeDocument/2006/relationships/hyperlink" Target="https://www.kaggle.com/code/sachinegunjal/customer-segmentation-retention-analys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de/mehmettuzcu/recommendation-systems" TargetMode="External"/><Relationship Id="rId4" Type="http://schemas.openxmlformats.org/officeDocument/2006/relationships/hyperlink" Target="https://www.kaggle.com/code/adarshcgowda/new-rfmt-model-for-segmentation-1st-in-kaggl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silhouette_score.html" TargetMode="External"/><Relationship Id="rId2" Type="http://schemas.openxmlformats.org/officeDocument/2006/relationships/hyperlink" Target="https://hastie.su.domains/ISLR2/Slides/Ch12_Unsupervised_Learning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cluster.DBSCAN.html" TargetMode="External"/><Relationship Id="rId4" Type="http://schemas.openxmlformats.org/officeDocument/2006/relationships/hyperlink" Target="https://scikit-learn.org/stable/modules/clustering.html#dbsc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PROJECT PROPOSITION</a:t>
            </a:r>
          </a:p>
          <a:p>
            <a:pPr marL="0" indent="0">
              <a:buNone/>
            </a:pPr>
            <a:r>
              <a:rPr lang="en-US" dirty="0"/>
              <a:t>Data Mining Project </a:t>
            </a:r>
          </a:p>
          <a:p>
            <a:pPr marL="0" indent="0">
              <a:buNone/>
            </a:pPr>
            <a:r>
              <a:rPr lang="en-US" sz="1400" dirty="0"/>
              <a:t>CSCA 5522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Simon S.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sash1081@colorado.edu</a:t>
            </a: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 algn="r">
              <a:buNone/>
            </a:pPr>
            <a:r>
              <a:rPr lang="en-US" sz="1400" dirty="0"/>
              <a:t>University of Colorado,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Investigates unusual customer purchasing behavior in UK online retail transactions</a:t>
            </a:r>
          </a:p>
          <a:p>
            <a:pPr lvl="0"/>
            <a:r>
              <a:t>Invoice-level dataset: each transaction’s own features + aggregated customer-level behavior</a:t>
            </a:r>
          </a:p>
          <a:p>
            <a:pPr lvl="0"/>
            <a:r>
              <a:t>Goal: discover/characterize behavioral segments, then find transactions &amp; customers that don’t fit any of them</a:t>
            </a:r>
          </a:p>
          <a:p>
            <a:pPr lvl="0"/>
            <a:r>
              <a:t>Not a predictive-modelling exercise; clustering is a means, not the end</a:t>
            </a:r>
          </a:p>
          <a:p>
            <a:pPr lvl="0"/>
            <a:r>
              <a:t>Main axes of interest: cancellation behavior and order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high-value customers</a:t>
            </a:r>
          </a:p>
          <a:p>
            <a:pPr lvl="0"/>
            <a:r>
              <a:t>Identify segments associated with frequent cancellations</a:t>
            </a:r>
          </a:p>
          <a:p>
            <a:pPr lvl="0"/>
            <a:r>
              <a:t>Detect emerging changes in purchasing patterns</a:t>
            </a:r>
          </a:p>
          <a:p>
            <a:pPr lvl="0"/>
            <a:r>
              <a:t>Supports retention, marketing, and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and characterize purchasing behavior that differs substantially from the major segments</a:t>
            </a:r>
          </a:p>
          <a:p>
            <a:pPr lvl="0"/>
            <a:r>
              <a:t>Trace those outliers back to the customers who produced them</a:t>
            </a:r>
          </a:p>
          <a:p>
            <a:pPr lvl="0"/>
            <a:r>
              <a:t>Example: if 3 well-defined clusters emerge - which transactions/customers fit none of them?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sz="1400" dirty="0">
                <a:hlinkClick r:id="rId2"/>
              </a:rPr>
              <a:t>Customer Segmentation &amp; Retention Strategy </a:t>
            </a:r>
            <a:r>
              <a:rPr sz="1400" dirty="0"/>
              <a:t>(Kaggle) - segments as end product for retention</a:t>
            </a:r>
          </a:p>
          <a:p>
            <a:pPr lvl="0"/>
            <a:r>
              <a:rPr sz="1400" dirty="0">
                <a:hlinkClick r:id="rId3"/>
              </a:rPr>
              <a:t>Online Retail Cohort Analysis </a:t>
            </a:r>
            <a:r>
              <a:rPr sz="1400" dirty="0"/>
              <a:t>(Kaggle, same dataset) - descriptive cohorts/trends, not </a:t>
            </a:r>
            <a:r>
              <a:rPr sz="1400" dirty="0" err="1"/>
              <a:t>segmentation+outliers</a:t>
            </a:r>
            <a:endParaRPr sz="1400" dirty="0"/>
          </a:p>
          <a:p>
            <a:pPr lvl="0"/>
            <a:r>
              <a:rPr sz="1400" dirty="0">
                <a:hlinkClick r:id="rId4"/>
              </a:rPr>
              <a:t>Enhanced RFM / RFMT </a:t>
            </a:r>
            <a:r>
              <a:rPr sz="1400" dirty="0"/>
              <a:t>(Kaggle) - adds Inter-Purchase-Time to RFM; segmentation is the end goal there</a:t>
            </a:r>
          </a:p>
          <a:p>
            <a:pPr lvl="0"/>
            <a:r>
              <a:rPr sz="1400" dirty="0">
                <a:hlinkClick r:id="rId5"/>
              </a:rPr>
              <a:t>Recommendation Systems </a:t>
            </a:r>
            <a:r>
              <a:rPr sz="1400" dirty="0"/>
              <a:t>(Kaggle) - association rules &amp; collaborative filtering, different question entirely</a:t>
            </a:r>
          </a:p>
          <a:p>
            <a:pPr lvl="0"/>
            <a:r>
              <a:rPr sz="1400" dirty="0"/>
              <a:t>This project differs: segmentation is a baseline, not the deliverable - the deliverable is what doesn’t fit</a:t>
            </a: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" sz="1800" b="1" dirty="0"/>
              <a:t>How this work differs from the existing work:</a:t>
            </a:r>
          </a:p>
          <a:p>
            <a:pPr marL="0" indent="0">
              <a:buNone/>
            </a:pPr>
            <a:r>
              <a:rPr lang="" sz="1400" dirty="0"/>
              <a:t>There is plenty of work related to retail data. It can largely be divided into three main categories: customer segmentation, prediction tasks (e.g., customer churn, likelihood of cancellation), and recommendation systems.</a:t>
            </a:r>
          </a:p>
          <a:p>
            <a:pPr marL="0" indent="0">
              <a:buNone/>
            </a:pPr>
            <a:endParaRPr lang="" sz="1400" dirty="0"/>
          </a:p>
          <a:p>
            <a:pPr marL="0" indent="0">
              <a:buNone/>
            </a:pPr>
            <a:r>
              <a:rPr lang="" sz="1400" dirty="0"/>
              <a:t>I chose to do something distinct - something with a deeper affinity to the "Data Mining" discipline itself: intentionally avoiding pure classification, regression, and clustering as an end goal, and instead focusing on discovering unknown patterns and analyzing the data.</a:t>
            </a:r>
          </a:p>
          <a:p>
            <a:pPr marL="0" lv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Filter to UK, drop guest transactions</a:t>
            </a:r>
          </a:p>
          <a:p>
            <a:pPr lvl="0"/>
            <a:r>
              <a:t>Build customer-level features:</a:t>
            </a:r>
          </a:p>
          <a:p>
            <a:pPr lvl="1"/>
            <a:r>
              <a:t>Timing: day of week, hour, avg. shopping trips per month</a:t>
            </a:r>
          </a:p>
          <a:p>
            <a:pPr lvl="1"/>
            <a:r>
              <a:t>Spending: avg/min/max/std of transaction totals</a:t>
            </a:r>
          </a:p>
          <a:p>
            <a:pPr lvl="1"/>
            <a:r>
              <a:t>Product: avg/min/max/std of items purchased, most frequent products</a:t>
            </a:r>
          </a:p>
          <a:p>
            <a:pPr lvl="1"/>
            <a:r>
              <a:t>Cancellations: % of cancelled transactions</a:t>
            </a:r>
          </a:p>
          <a:p>
            <a:pPr lvl="0"/>
            <a:r>
              <a:t>Join customer-level features back onto invoice-level records</a:t>
            </a:r>
          </a:p>
          <a:p>
            <a:pPr lvl="0"/>
            <a:r>
              <a:t>Feasibility: ~50 engineered features, ~40,500 invoices, ~5,400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Explore segmentation using engineered behavioral features</a:t>
            </a:r>
          </a:p>
          <a:p>
            <a:pPr lvl="0"/>
            <a:r>
              <a:t>Characterize the common patterns found in each segment</a:t>
            </a:r>
          </a:p>
          <a:p>
            <a:pPr lvl="0"/>
            <a:r>
              <a:t>Identify transactions/customers whose behavior differs significantly from the majority or from any segment</a:t>
            </a:r>
          </a:p>
          <a:p>
            <a:pPr lvl="0"/>
            <a:r>
              <a:t>Particular focus: spending, purchase composition, cancellation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Baseline: KMeans (quick, cheap, first impression - cannot produce outliers)</a:t>
            </a:r>
          </a:p>
          <a:p>
            <a:pPr lvl="0"/>
            <a:r>
              <a:t>Working model: DBSCAN (produces outliers - the “working horse” of this research)</a:t>
            </a:r>
          </a:p>
          <a:p>
            <a:pPr lvl="0"/>
            <a:r>
              <a:t>Two distance metrics evaluated: euclidean and cosine</a:t>
            </a:r>
          </a:p>
          <a:p>
            <a:pPr lvl="1"/>
            <a:r>
              <a:t>DBSCAN supports cosine natively; “cosine KMeans” approximated via L2-normalization + euclidean KMeans</a:t>
            </a:r>
          </a:p>
          <a:p>
            <a:pPr lvl="0"/>
            <a:r>
              <a:t>Evaluated on: silhouette score (direction, not verdict), stability under hyper-parameter changes, interpretability</a:t>
            </a:r>
          </a:p>
          <a:p>
            <a:pPr lvl="0"/>
            <a:r>
              <a:t>Target: stable, 2-3 interpretable clusters, manageable/interpretable outliers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Question: how does cluster A differ from cluster B? How do outliers differ from inliers?</a:t>
            </a:r>
          </a:p>
          <a:p>
            <a:pPr lvl="0"/>
            <a:r>
              <a:t>Raw mean differences aren’t comparable across features on different scales</a:t>
            </a:r>
          </a:p>
          <a:p>
            <a:pPr lvl="0"/>
            <a:r>
              <a:t>Solution: Cohen’s d - standardized mean difference, comparable across features</a:t>
            </a:r>
          </a:p>
          <a:p>
            <a:pPr lvl="0"/>
            <a:r>
              <a:t>Take the top 5-10 features with |Cohen’s d| &gt; 0.8 to characterize/define each population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Timeline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" b="1" dirty="0"/>
              <a:t>Week 1:</a:t>
            </a:r>
            <a:r>
              <a:rPr lang="" dirty="0"/>
              <a:t> EDA, preprocessing, and feature engineering</a:t>
            </a:r>
          </a:p>
          <a:p>
            <a:pPr lvl="0"/>
            <a:r>
              <a:rPr lang="" b="1" dirty="0"/>
              <a:t>Week 2:</a:t>
            </a:r>
            <a:r>
              <a:rPr lang="" dirty="0"/>
              <a:t> Unusual purchasing behavior analysis</a:t>
            </a:r>
          </a:p>
          <a:p>
            <a:r>
              <a:rPr lang="" b="1" dirty="0"/>
              <a:t>Week 3:</a:t>
            </a:r>
            <a:r>
              <a:rPr lang="" dirty="0"/>
              <a:t> Report preparation</a:t>
            </a:r>
          </a:p>
          <a:p>
            <a:pPr marL="0" lvl="0" indent="0">
              <a:buNone/>
            </a:pPr>
            <a:endParaRPr lang="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C2AD-9508-2F56-0E2C-002BC7AD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A6E7-4582-8EBA-8569-B79995ED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E8EC-D460-DC75-0EFD-6BB1B1CD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" dirty="0"/>
              <a:t>Jolliffe, I. T. (2002). </a:t>
            </a:r>
            <a:r>
              <a:rPr lang="" i="1" dirty="0"/>
              <a:t>Principal Component Analysis</a:t>
            </a:r>
            <a:r>
              <a:rPr lang="" dirty="0"/>
              <a:t> (2nd ed.). Springer.</a:t>
            </a:r>
          </a:p>
          <a:p>
            <a:pPr lvl="0"/>
            <a:r>
              <a:rPr lang="" dirty="0">
                <a:hlinkClick r:id="rId2"/>
              </a:rPr>
              <a:t>ISLR2, Ch12_Unsupervised_Learning.pdf</a:t>
            </a:r>
            <a:endParaRPr lang="" dirty="0"/>
          </a:p>
          <a:p>
            <a:pPr lvl="0"/>
            <a:r>
              <a:rPr lang="" dirty="0">
                <a:hlinkClick r:id="rId3"/>
              </a:rPr>
              <a:t>scikit-learn.org, silhouette_score</a:t>
            </a:r>
            <a:endParaRPr lang="" dirty="0"/>
          </a:p>
          <a:p>
            <a:pPr lvl="0"/>
            <a:r>
              <a:rPr lang="" dirty="0"/>
              <a:t>MacQueen, J. (1967). Some methods for classification and analysis of multivariate observations.</a:t>
            </a:r>
          </a:p>
          <a:p>
            <a:pPr lvl="0"/>
            <a:r>
              <a:rPr lang="" dirty="0"/>
              <a:t>scikit-learn User Guide: DBSCAN and parameter sensitivity. </a:t>
            </a:r>
            <a:r>
              <a:rPr lang="" dirty="0">
                <a:hlinkClick r:id="rId4"/>
              </a:rPr>
              <a:t>https://scikit-learn.org/stable/modules/clustering.html#dbscan</a:t>
            </a:r>
            <a:endParaRPr lang="" dirty="0"/>
          </a:p>
          <a:p>
            <a:pPr lvl="0"/>
            <a:r>
              <a:rPr lang="" dirty="0"/>
              <a:t>Ester, M., Kriegel, H.-P., Sander, J., Xu, X. (1996). </a:t>
            </a:r>
            <a:r>
              <a:rPr lang="" i="1" dirty="0"/>
              <a:t>A Density-Based Algorithm for Discovering Clusters in Large Spatial Databases with Noise</a:t>
            </a:r>
            <a:r>
              <a:rPr lang="" dirty="0"/>
              <a:t>.</a:t>
            </a:r>
          </a:p>
          <a:p>
            <a:pPr lvl="0"/>
            <a:r>
              <a:rPr lang="" dirty="0"/>
              <a:t>Schubert, E., Sander, J., Ester, M., Kriegel, H.-P., Xu, X. (2017). </a:t>
            </a:r>
            <a:r>
              <a:rPr lang="" i="1" dirty="0"/>
              <a:t>DBSCAN Revisited, Revisited: Why and How You Should (Still) Use DBSCAN</a:t>
            </a:r>
            <a:r>
              <a:rPr lang="" dirty="0"/>
              <a:t>.</a:t>
            </a:r>
          </a:p>
          <a:p>
            <a:pPr lvl="0"/>
            <a:r>
              <a:rPr lang="" dirty="0">
                <a:hlinkClick r:id="rId5"/>
              </a:rPr>
              <a:t>scikit-learn DBSCAN documentation</a:t>
            </a:r>
            <a:endParaRPr lang="" dirty="0"/>
          </a:p>
          <a:p>
            <a:pPr lvl="0"/>
            <a:r>
              <a:rPr lang="" dirty="0"/>
              <a:t>Cohen, J. (1988). </a:t>
            </a:r>
            <a:r>
              <a:rPr lang="" i="1" dirty="0"/>
              <a:t>Statistical Power Analysis for the Behavioral Sciences</a:t>
            </a:r>
            <a:r>
              <a:rPr lang="" dirty="0"/>
              <a:t> (2nd ed.). Lawrence Erlbaum.</a:t>
            </a:r>
          </a:p>
          <a:p>
            <a:pPr lvl="0"/>
            <a:r>
              <a:rPr lang="" dirty="0"/>
              <a:t>Li, Z., Zhu, Y., &amp; van Leeuwen, M. (2023). A Survey on Explainable Anomaly Detection. </a:t>
            </a:r>
            <a:r>
              <a:rPr lang="" i="1" dirty="0"/>
              <a:t>ACM Transactions on Knowledge Discovery from Data</a:t>
            </a:r>
            <a:r>
              <a:rPr lang="" dirty="0"/>
              <a:t>. arXiv:2210.06959.</a:t>
            </a:r>
          </a:p>
          <a:p>
            <a:pPr marL="0" lv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49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855</Words>
  <Application>Microsoft Office PowerPoint</Application>
  <PresentationFormat>On-screen Show (16:9)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Discovering Unusual Customer Purchasing Behavior</vt:lpstr>
      <vt:lpstr>Abstract</vt:lpstr>
      <vt:lpstr>Motivation: Business Value</vt:lpstr>
      <vt:lpstr>Objective</vt:lpstr>
      <vt:lpstr>Related Work</vt:lpstr>
      <vt:lpstr>Proposed Work: Feature Engineering</vt:lpstr>
      <vt:lpstr>Proposed Work: Analysis Flow</vt:lpstr>
      <vt:lpstr>Evaluation: Clustering</vt:lpstr>
      <vt:lpstr>Evaluation: Characterizing Differences</vt:lpstr>
      <vt:lpstr>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Simon Shtock</cp:lastModifiedBy>
  <cp:revision>6</cp:revision>
  <dcterms:created xsi:type="dcterms:W3CDTF">2026-07-20T18:51:20Z</dcterms:created>
  <dcterms:modified xsi:type="dcterms:W3CDTF">2026-07-22T13:20:07Z</dcterms:modified>
</cp:coreProperties>
</file>